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Outfit"/>
      <p:regular r:id="rId17"/>
    </p:embeddedFont>
    <p:embeddedFont>
      <p:font typeface="Outfit"/>
      <p:regular r:id="rId18"/>
    </p:embeddedFont>
    <p:embeddedFont>
      <p:font typeface="Bitter"/>
      <p:regular r:id="rId19"/>
    </p:embeddedFont>
    <p:embeddedFont>
      <p:font typeface="Bitter"/>
      <p:regular r:id="rId20"/>
    </p:embeddedFont>
    <p:embeddedFont>
      <p:font typeface="Bitter"/>
      <p:regular r:id="rId21"/>
    </p:embeddedFont>
    <p:embeddedFont>
      <p:font typeface="Bitter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3B3C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9265" y="959048"/>
            <a:ext cx="4207669" cy="63115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Customer Churn Analysis &amp; Retention Strategy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comprehensive analysis of telecom customer churn using Python, SQL, and Power BI — identifying key drivers and data-driven strategies to improve retention.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25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Dataset at a Glance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36627"/>
            <a:ext cx="4205168" cy="42051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59981" y="3577471"/>
            <a:ext cx="2610088" cy="2123480"/>
          </a:xfrm>
          <a:prstGeom prst="roundRect">
            <a:avLst>
              <a:gd name="adj" fmla="val 1602"/>
            </a:avLst>
          </a:prstGeom>
          <a:solidFill>
            <a:srgbClr val="3B3C3E"/>
          </a:solidFill>
          <a:ln/>
        </p:spPr>
      </p:sp>
      <p:sp>
        <p:nvSpPr>
          <p:cNvPr id="5" name="Text 2"/>
          <p:cNvSpPr/>
          <p:nvPr/>
        </p:nvSpPr>
        <p:spPr>
          <a:xfrm>
            <a:off x="5786795" y="3804285"/>
            <a:ext cx="21564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7,043 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786795" y="4739759"/>
            <a:ext cx="215646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Total records analyzed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8396883" y="3577471"/>
            <a:ext cx="2610207" cy="2123480"/>
          </a:xfrm>
          <a:prstGeom prst="roundRect">
            <a:avLst>
              <a:gd name="adj" fmla="val 1602"/>
            </a:avLst>
          </a:prstGeom>
          <a:solidFill>
            <a:srgbClr val="3B3C3E"/>
          </a:solidFill>
          <a:ln/>
        </p:spPr>
      </p:sp>
      <p:sp>
        <p:nvSpPr>
          <p:cNvPr id="8" name="Text 5"/>
          <p:cNvSpPr/>
          <p:nvPr/>
        </p:nvSpPr>
        <p:spPr>
          <a:xfrm>
            <a:off x="8623697" y="3804285"/>
            <a:ext cx="21565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21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23697" y="4385429"/>
            <a:ext cx="21565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Demographics, services, billing &amp; churn status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1233904" y="3577471"/>
            <a:ext cx="2610207" cy="2123480"/>
          </a:xfrm>
          <a:prstGeom prst="roundRect">
            <a:avLst>
              <a:gd name="adj" fmla="val 1602"/>
            </a:avLst>
          </a:prstGeom>
          <a:solidFill>
            <a:srgbClr val="3B3C3E"/>
          </a:solidFill>
          <a:ln/>
        </p:spPr>
      </p:sp>
      <p:sp>
        <p:nvSpPr>
          <p:cNvPr id="11" name="Text 8"/>
          <p:cNvSpPr/>
          <p:nvPr/>
        </p:nvSpPr>
        <p:spPr>
          <a:xfrm>
            <a:off x="11460718" y="3804285"/>
            <a:ext cx="21565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Numerics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460718" y="4385429"/>
            <a:ext cx="21565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Tenure, MonthlyCharges, TotalCharges, Rating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2238"/>
            <a:ext cx="71462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 Preparation in Python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4959" y="1924645"/>
            <a:ext cx="7660481" cy="454652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7778" y="3035891"/>
            <a:ext cx="652129" cy="6521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16770" y="5416574"/>
            <a:ext cx="1904221" cy="3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Verify Quality</a:t>
            </a:r>
            <a:endParaRPr lang="en-US" sz="23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0368" y="3037113"/>
            <a:ext cx="652130" cy="65213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16929" y="5233163"/>
            <a:ext cx="1904221" cy="73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Handle Missing</a:t>
            </a:r>
            <a:endParaRPr lang="en-US" sz="2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0528" y="3037113"/>
            <a:ext cx="652130" cy="65213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977961" y="5416574"/>
            <a:ext cx="1904221" cy="3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Load Data</a:t>
            </a:r>
            <a:endParaRPr lang="en-US" sz="2300" dirty="0"/>
          </a:p>
        </p:txBody>
      </p:sp>
      <p:sp>
        <p:nvSpPr>
          <p:cNvPr id="10" name="Text 4"/>
          <p:cNvSpPr/>
          <p:nvPr/>
        </p:nvSpPr>
        <p:spPr>
          <a:xfrm>
            <a:off x="793790" y="6726317"/>
            <a:ext cx="13042821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Missing values in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PhoneService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and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PaperlessBilling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were imputed using column mode. No duplicate records were found across all 7,043 rows.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8259"/>
            <a:ext cx="64329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Who Are the Customers?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84013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5,174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565916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Retained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106228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Customers who did not churn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56884" y="2584013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1,869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9229130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Churned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4106228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Customers who left the service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036106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1,142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2565916" y="6067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Senior Citizens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6558320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vs. 5,901 non-senior customers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456884" y="5036106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3,555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9229130" y="6067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Male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56884" y="6558320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vs. 3,488 Female customers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2774633"/>
            <a:ext cx="35886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Contract Type &amp; Churn Rate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449" y="3277672"/>
            <a:ext cx="3774400" cy="30605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55461" y="4279932"/>
            <a:ext cx="195024" cy="13644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2.83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5366119" y="6167152"/>
            <a:ext cx="195024" cy="13644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11.3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9049757" y="8054372"/>
            <a:ext cx="195024" cy="13644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42.7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7461171" y="327064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61171" y="3504486"/>
            <a:ext cx="3774400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Month-to-month customers churn at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42.71%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nearly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4× higher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than one-year contracts and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15× higher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than two-year contracts.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461171" y="3827621"/>
            <a:ext cx="3774400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Long-term commitments are the strongest structural defense against churn.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9378"/>
            <a:ext cx="94957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Charges, Services &amp; Payment Impact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51785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851785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Monthly Charges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599497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Churned customers pay avg.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$74.44/mo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vs.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$61.27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for retained. Highest churn in the $70–90 range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37.95%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851785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851785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Internet Service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599497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Fiber optic users churn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41.89%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vs. DSL at 18.96% and no internet at 7.40%.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09411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809411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Payment Method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557123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Electronic check users churn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45.29%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nearly 3× the rate of automatic payment methods (~15–17%).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809411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Paperless Billing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557123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Paperless billing customers churn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33.43%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vs.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16.27%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for paper billing customers.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9252823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Support Services Dramatically Reduce Churn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3714750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Tech Support Effect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43205" y="4141113"/>
            <a:ext cx="6015395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Customers </a:t>
            </a:r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without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tech support churn at </a:t>
            </a:r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41.64%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 Those </a:t>
            </a:r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with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tech support churn at just </a:t>
            </a:r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15.17%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543205" y="4790242"/>
            <a:ext cx="6015395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Customers lacking both Online Security and Device Protection have the highest churn at </a:t>
            </a:r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47.05%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nearly 7× lower when both are active.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57366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Insights Summary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4196358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Contract Type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Month-to-month contracts drive the highest churn.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667000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022044"/>
            <a:ext cx="4196358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Monthly Charges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Higher charges correlate strongly with increased churn.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667000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022044"/>
            <a:ext cx="4196358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Tenure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New customers churn more; long-term customers stay loyal.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80941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Support Services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Absence of tech support, security, or device protection raises churn significantly.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80941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164455"/>
            <a:ext cx="6407944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Payment Method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Electronic check users churn far more than automatic payment users.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6905" y="536138"/>
            <a:ext cx="8041243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Retention Strategy Recommendations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905" y="1411486"/>
            <a:ext cx="1336953" cy="1336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905" y="2935605"/>
            <a:ext cx="3038713" cy="575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Encourage Long-Term Contracts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56905" y="3601164"/>
            <a:ext cx="3038713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Promote yearly and two-year plans with incentives to reduce month-to-month churn.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785" y="1411486"/>
            <a:ext cx="1336953" cy="13369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82785" y="2935605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Optimize Pricing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182785" y="3313271"/>
            <a:ext cx="3038713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Review high monthly charges and offer value-added benefits to retain at-risk customers.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664" y="1411486"/>
            <a:ext cx="1336953" cy="13369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08664" y="2935605"/>
            <a:ext cx="2618899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Focus on New Customers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408664" y="3313271"/>
            <a:ext cx="3038713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Improve early onboarding experience — churn risk is highest in initial tenure.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4543" y="1411486"/>
            <a:ext cx="1337072" cy="13370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634543" y="2935724"/>
            <a:ext cx="2747367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Promote Support Services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0634543" y="3313390"/>
            <a:ext cx="3038832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Increase awareness of Tech Support, Online Security, and Device Protection.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905" y="4702135"/>
            <a:ext cx="1336953" cy="133695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56905" y="6226254"/>
            <a:ext cx="3038713" cy="575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Improve Payment Convenience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956905" y="6891814"/>
            <a:ext cx="3038713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Encourage automatic payment methods to reduce churn linked to electronic checks.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3B3C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9265" y="959048"/>
            <a:ext cx="4207669" cy="63115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42994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47888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This analysis reveals that churn is not random — it is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predictable and preventable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 Contract flexibility, pricing pressure, lack of support services, and payment friction are the primary levers.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3822740"/>
            <a:ext cx="7556421" cy="2976801"/>
          </a:xfrm>
          <a:prstGeom prst="roundRect">
            <a:avLst>
              <a:gd name="adj" fmla="val 1143"/>
            </a:avLst>
          </a:prstGeom>
          <a:solidFill>
            <a:srgbClr val="3B3C3E"/>
          </a:solidFill>
          <a:ln/>
        </p:spPr>
      </p:sp>
      <p:sp>
        <p:nvSpPr>
          <p:cNvPr id="7" name="Shape 4"/>
          <p:cNvSpPr/>
          <p:nvPr/>
        </p:nvSpPr>
        <p:spPr>
          <a:xfrm>
            <a:off x="793790" y="3822740"/>
            <a:ext cx="3778210" cy="1669852"/>
          </a:xfrm>
          <a:prstGeom prst="roundRect">
            <a:avLst>
              <a:gd name="adj" fmla="val 2038"/>
            </a:avLst>
          </a:prstGeom>
          <a:solidFill>
            <a:srgbClr val="3B3C3E"/>
          </a:solidFill>
          <a:ln/>
        </p:spPr>
      </p:sp>
      <p:sp>
        <p:nvSpPr>
          <p:cNvPr id="8" name="Text 5"/>
          <p:cNvSpPr/>
          <p:nvPr/>
        </p:nvSpPr>
        <p:spPr>
          <a:xfrm>
            <a:off x="1020604" y="40495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Lock In Loyalty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0604" y="4539972"/>
            <a:ext cx="33245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Long-term contracts + auto-pay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572000" y="3822740"/>
            <a:ext cx="3778210" cy="1669852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3822740"/>
            <a:ext cx="30480" cy="1669852"/>
          </a:xfrm>
          <a:prstGeom prst="roundRect">
            <a:avLst>
              <a:gd name="adj" fmla="val 111628"/>
            </a:avLst>
          </a:prstGeom>
          <a:solidFill>
            <a:srgbClr val="545557"/>
          </a:solidFill>
          <a:ln/>
        </p:spPr>
      </p:sp>
      <p:sp>
        <p:nvSpPr>
          <p:cNvPr id="12" name="Text 9"/>
          <p:cNvSpPr/>
          <p:nvPr/>
        </p:nvSpPr>
        <p:spPr>
          <a:xfrm>
            <a:off x="4798814" y="40495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Add Value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798814" y="4539972"/>
            <a:ext cx="33245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Bundle security &amp; support services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93790" y="5492591"/>
            <a:ext cx="7556421" cy="1306949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15" name="Shape 12"/>
          <p:cNvSpPr/>
          <p:nvPr/>
        </p:nvSpPr>
        <p:spPr>
          <a:xfrm>
            <a:off x="793790" y="5492591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545557"/>
          </a:solidFill>
          <a:ln/>
        </p:spPr>
      </p:sp>
      <p:sp>
        <p:nvSpPr>
          <p:cNvPr id="16" name="Text 13"/>
          <p:cNvSpPr/>
          <p:nvPr/>
        </p:nvSpPr>
        <p:spPr>
          <a:xfrm>
            <a:off x="1020604" y="57194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Nurture Early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20604" y="6209824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Prioritize new customer experience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2026-04-13T16:36:52Z</dcterms:created>
  <dcterms:modified xsi:type="dcterms:W3CDTF">2026-04-13T16:36:52Z</dcterms:modified>
</cp:coreProperties>
</file>